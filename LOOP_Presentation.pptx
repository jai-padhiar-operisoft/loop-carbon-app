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22C55E">
              <a:lumMod val="15000"/>
              <a:lumOff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0" y="3657600"/>
            <a:ext cx="4572000" cy="4572000"/>
          </a:xfrm>
          <a:prstGeom prst="ellipse">
            <a:avLst/>
          </a:prstGeom>
          <a:solidFill>
            <a:srgbClr val="4ADE80">
              <a:lumMod val="10000"/>
              <a:lumOff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F1F5F9"/>
                </a:solidFill>
                <a:latin typeface="Segoe UI"/>
              </a:defRPr>
            </a:pPr>
            <a:r>
              <a:t>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0">
                <a:solidFill>
                  <a:srgbClr val="22C55E"/>
                </a:solidFill>
                <a:latin typeface="Segoe UI"/>
              </a:defRPr>
            </a:pPr>
            <a:r>
              <a:t>Your Carbon Mirror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Segoe UI"/>
              </a:defRPr>
            </a:pPr>
            <a:r>
              <a:t>Not a carbon tracker. A carbon mirror that talks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HackOut'26 | DAU Hackathon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Segoe UI"/>
              </a:defRPr>
            </a:pPr>
            <a:r>
              <a:t>THE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800" b="1">
                <a:solidFill>
                  <a:srgbClr val="F1F5F9"/>
                </a:solidFill>
                <a:latin typeface="Segoe UI"/>
              </a:defRPr>
            </a:pPr>
            <a:r>
              <a:t>We are running out of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029200" cy="228600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029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EF4444"/>
                </a:solidFill>
                <a:latin typeface="Segoe UI"/>
              </a:defRPr>
            </a:pPr>
            <a:r>
              <a:t>2030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1F5F9"/>
                </a:solidFill>
                <a:latin typeface="Segoe UI"/>
              </a:defRPr>
            </a:pPr>
            <a:r>
              <a:t>Year we will breach 1.5°C warming</a:t>
            </a:r>
            <a:br/>
            <a:r>
              <a:t>The point of no return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029200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0" y="21488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2C55E"/>
                </a:solidFill>
                <a:latin typeface="Segoe UI"/>
              </a:defRPr>
            </a:pPr>
            <a:r>
              <a:t>3.19 Billion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606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Tonnes CO2 emitted by India in 2024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017520"/>
            <a:ext cx="5029200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3154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EF4444"/>
                </a:solidFill>
                <a:latin typeface="Segoe UI"/>
              </a:defRPr>
            </a:pPr>
            <a:r>
              <a:t>165 Million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611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Tonnes increase in just one year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029200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416052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2C55E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617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Of global emissions from household consumption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Segoe UI"/>
              </a:defRPr>
            </a:pPr>
            <a:r>
              <a:t>India had the largest emission increase of any country in 2024. Individual action is no longer optional.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1F5F9"/>
                </a:solidFill>
                <a:latin typeface="Segoe UI"/>
              </a:defRPr>
            </a:pPr>
            <a:r>
              <a:t>Most people have no idea where</a:t>
            </a:r>
            <a:br/>
            <a:r>
              <a:t>their carbon comes from.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1920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>
                <a:lumMod val="70000"/>
                <a:lumOff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60120" y="2423160"/>
            <a:ext cx="457200" cy="457200"/>
          </a:xfrm>
          <a:prstGeom prst="ellipse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EF4444"/>
                </a:solidFill>
                <a:latin typeface="Segoe UI"/>
              </a:defRPr>
            </a:pPr>
            <a:r>
              <a:t>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F1F5F9"/>
                </a:solidFill>
                <a:latin typeface="Segoe UI"/>
              </a:defRPr>
            </a:pPr>
            <a:r>
              <a:t>No Visibility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You know "cars are bad" but have no idea your Swiggy habit creates 2x the carbon.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94560"/>
            <a:ext cx="5212080" cy="1920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>
                <a:lumMod val="70000"/>
                <a:lumOff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46520" y="2423160"/>
            <a:ext cx="457200" cy="457200"/>
          </a:xfrm>
          <a:prstGeom prst="ellipse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2468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EF4444"/>
                </a:solidFill>
                <a:latin typeface="Segoe UI"/>
              </a:defRPr>
            </a:pPr>
            <a:r>
              <a:t>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46888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F1F5F9"/>
                </a:solidFill>
                <a:latin typeface="Segoe UI"/>
              </a:defRPr>
            </a:pPr>
            <a:r>
              <a:t>Manual Entry Hell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10896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Existing apps need you to log every purchase. Nobody does that for more than 3 days.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97679"/>
            <a:ext cx="5212080" cy="1920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>
                <a:lumMod val="70000"/>
                <a:lumOff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60120" y="4526279"/>
            <a:ext cx="457200" cy="457200"/>
          </a:xfrm>
          <a:prstGeom prst="ellipse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4571999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EF4444"/>
                </a:solidFill>
                <a:latin typeface="Segoe UI"/>
              </a:defRPr>
            </a:pPr>
            <a: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571999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F1F5F9"/>
                </a:solidFill>
                <a:latin typeface="Segoe UI"/>
              </a:defRPr>
            </a:pPr>
            <a:r>
              <a:t>Generic Advice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212079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"Take public transport" is useless if you live where there isn't any.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97679"/>
            <a:ext cx="5212080" cy="1920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>
                <a:lumMod val="70000"/>
                <a:lumOff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46520" y="4526279"/>
            <a:ext cx="457200" cy="457200"/>
          </a:xfrm>
          <a:prstGeom prst="ellipse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46520" y="4571999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EF4444"/>
                </a:solidFill>
                <a:latin typeface="Segoe UI"/>
              </a:defRPr>
            </a:pPr>
            <a: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571999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F1F5F9"/>
                </a:solidFill>
                <a:latin typeface="Segoe UI"/>
              </a:defRPr>
            </a:pPr>
            <a:r>
              <a:t>Guilt Without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212079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Individual shaming without peer comparison doesn't change behavior.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315200" y="-914400"/>
            <a:ext cx="6400800" cy="6400800"/>
          </a:xfrm>
          <a:prstGeom prst="ellipse">
            <a:avLst/>
          </a:prstGeom>
          <a:solidFill>
            <a:srgbClr val="22C55E">
              <a:lumMod val="15000"/>
              <a:lumOff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Segoe UI"/>
              </a:defRPr>
            </a:pPr>
            <a: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6400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1F5F9"/>
                </a:solidFill>
                <a:latin typeface="Segoe UI"/>
              </a:defRPr>
            </a:pPr>
            <a:r>
              <a:t>Introducing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4ADE80"/>
                </a:solidFill>
                <a:latin typeface="Segoe UI"/>
              </a:defRPr>
            </a:pPr>
            <a:r>
              <a:t>Your personal carbon mirror.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926080"/>
            <a:ext cx="137160" cy="1371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F1F5F9"/>
                </a:solidFill>
                <a:latin typeface="Segoe UI"/>
              </a:defRPr>
            </a:pPr>
            <a:r>
              <a:t>Upload your bank CSV. See your carbon in 30 seconds.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520440"/>
            <a:ext cx="137160" cy="1371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F1F5F9"/>
                </a:solidFill>
                <a:latin typeface="Segoe UI"/>
              </a:defRPr>
            </a:pPr>
            <a:r>
              <a:t>AI classifies every transaction automatically.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114800"/>
            <a:ext cx="137160" cy="1371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F1F5F9"/>
                </a:solidFill>
                <a:latin typeface="Segoe UI"/>
              </a:defRPr>
            </a:pPr>
            <a:r>
              <a:t>Get a score, a personality, and real comparisons.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709160"/>
            <a:ext cx="137160" cy="1371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6177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F1F5F9"/>
                </a:solidFill>
                <a:latin typeface="Segoe UI"/>
              </a:defRPr>
            </a:pPr>
            <a:r>
              <a:t>Actions tailored to YOUR city and YOUR spending.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5303520"/>
            <a:ext cx="137160" cy="1371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52120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F1F5F9"/>
                </a:solidFill>
                <a:latin typeface="Segoe UI"/>
              </a:defRPr>
            </a:pPr>
            <a:r>
              <a:t>Compete with friends. Change together.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3200400"/>
            <a:ext cx="3840480" cy="256032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0" y="347472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2C55E"/>
                </a:solidFill>
                <a:latin typeface="Segoe UI"/>
              </a:defRPr>
            </a:pPr>
            <a:r>
              <a:t>Zero Manual Entry</a:t>
            </a:r>
          </a:p>
          <a:p>
            <a:pPr>
              <a:spcBef>
                <a:spcPts val="1200"/>
              </a:spcBef>
              <a:spcAft>
                <a:spcPts val="0"/>
              </a:spcAft>
              <a:defRPr sz="1600" b="0">
                <a:solidFill>
                  <a:srgbClr val="94A3B8"/>
                </a:solidFill>
                <a:latin typeface="Segoe UI"/>
              </a:defRPr>
            </a:pPr>
            <a:r>
              <a:t>Just export your bank statement.</a:t>
            </a:r>
            <a:br/>
            <a:r>
              <a:t>We do the rest.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Segoe UI"/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Segoe UI"/>
              </a:defRPr>
            </a:pPr>
            <a:r>
              <a:t>From CSV to Carbon Score in 30 Seconds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011680"/>
            <a:ext cx="731520" cy="73152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80B0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645920" y="2194560"/>
            <a:ext cx="1645920" cy="365760"/>
          </a:xfrm>
          <a:prstGeom prst="rightArrow">
            <a:avLst/>
          </a:prstGeom>
          <a:solidFill>
            <a:srgbClr val="22C55E">
              <a:lumMod val="50000"/>
              <a:lumOff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F1F5F9"/>
                </a:solidFill>
                <a:latin typeface="Segoe UI"/>
              </a:defRPr>
            </a:pPr>
            <a:r>
              <a:t>Upload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Export CSV from your bank or UPI app. Drop it in LOOP.</a:t>
            </a:r>
          </a:p>
        </p:txBody>
      </p:sp>
      <p:sp>
        <p:nvSpPr>
          <p:cNvPr id="10" name="Oval 9"/>
          <p:cNvSpPr/>
          <p:nvPr/>
        </p:nvSpPr>
        <p:spPr>
          <a:xfrm>
            <a:off x="3566160" y="2011680"/>
            <a:ext cx="731520" cy="73152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66160" y="21488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80B0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480560" y="2194560"/>
            <a:ext cx="1645920" cy="365760"/>
          </a:xfrm>
          <a:prstGeom prst="rightArrow">
            <a:avLst/>
          </a:prstGeom>
          <a:solidFill>
            <a:srgbClr val="22C55E">
              <a:lumMod val="50000"/>
              <a:lumOff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66160" y="292608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F1F5F9"/>
                </a:solidFill>
                <a:latin typeface="Segoe UI"/>
              </a:defRPr>
            </a:pPr>
            <a:r>
              <a:t>Classify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38328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AI categorizes every merchant into 14 carbon categories.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2011680"/>
            <a:ext cx="731520" cy="73152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21488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80B0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315200" y="2194560"/>
            <a:ext cx="1645920" cy="365760"/>
          </a:xfrm>
          <a:prstGeom prst="rightArrow">
            <a:avLst/>
          </a:prstGeom>
          <a:solidFill>
            <a:srgbClr val="22C55E">
              <a:lumMod val="50000"/>
              <a:lumOff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F1F5F9"/>
                </a:solidFill>
                <a:latin typeface="Segoe UI"/>
              </a:defRPr>
            </a:pPr>
            <a:r>
              <a:t>Calculate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38328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Emission factors compute CO2 for each transaction.</a:t>
            </a:r>
          </a:p>
        </p:txBody>
      </p:sp>
      <p:sp>
        <p:nvSpPr>
          <p:cNvPr id="20" name="Oval 19"/>
          <p:cNvSpPr/>
          <p:nvPr/>
        </p:nvSpPr>
        <p:spPr>
          <a:xfrm>
            <a:off x="9235440" y="2011680"/>
            <a:ext cx="731520" cy="73152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35440" y="21488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80B0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292608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F1F5F9"/>
                </a:solidFill>
                <a:latin typeface="Segoe UI"/>
              </a:defRPr>
            </a:pPr>
            <a:r>
              <a:t>Reveal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38328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Your Loop Score, personality, and breakdown appear.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46320"/>
            <a:ext cx="10698480" cy="1371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50292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>
                <a:solidFill>
                  <a:srgbClr val="22C55E"/>
                </a:solidFill>
                <a:latin typeface="Segoe UI"/>
              </a:defRPr>
            </a:pPr>
            <a:r>
              <a:t>TECH STACK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86400"/>
            <a:ext cx="155448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2C55E">
                <a:lumMod val="70000"/>
                <a:lumOff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Segoe UI"/>
              </a:defRPr>
            </a:pPr>
            <a:r>
              <a:t>Next.js 16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51760" y="5486400"/>
            <a:ext cx="155448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2C55E">
                <a:lumMod val="70000"/>
                <a:lumOff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651760" y="55321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Segoe UI"/>
              </a:defRPr>
            </a:pPr>
            <a:r>
              <a:t>FastAPI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5486400"/>
            <a:ext cx="155448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2C55E">
                <a:lumMod val="70000"/>
                <a:lumOff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89120" y="55321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Segoe UI"/>
              </a:defRPr>
            </a:pPr>
            <a:r>
              <a:t>SQLite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79" y="5486400"/>
            <a:ext cx="155448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2C55E">
                <a:lumMod val="70000"/>
                <a:lumOff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26479" y="55321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Segoe UI"/>
              </a:defRPr>
            </a:pPr>
            <a:r>
              <a:t>OpenRouter AI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486400"/>
            <a:ext cx="155448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2C55E">
                <a:lumMod val="70000"/>
                <a:lumOff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0" y="55321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Segoe UI"/>
              </a:defRPr>
            </a:pPr>
            <a:r>
              <a:t>Recharts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01200" y="5486400"/>
            <a:ext cx="155448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2C55E">
                <a:lumMod val="70000"/>
                <a:lumOff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601200" y="55321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Segoe UI"/>
              </a:defRPr>
            </a:pPr>
            <a:r>
              <a:t>Leaflet Maps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Segoe UI"/>
              </a:defRPr>
            </a:pPr>
            <a:r>
              <a:t>THE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Segoe UI"/>
              </a:defRPr>
            </a:pPr>
            <a:r>
              <a:t>Emission Factors by Category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Segoe UI"/>
              </a:defRPr>
            </a:pPr>
            <a:r>
              <a:t>Based on GHG Protocol and DEFRA standards, adapted for Indian consumption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F1F5F9"/>
                </a:solidFill>
                <a:latin typeface="Segoe UI"/>
              </a:defRPr>
            </a:pPr>
            <a:r>
              <a:t>Flights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2148840"/>
            <a:ext cx="640080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926080" y="2148840"/>
            <a:ext cx="6400800" cy="32004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0" y="21031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0.0035 kg/₹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F1F5F9"/>
                </a:solidFill>
                <a:latin typeface="Segoe UI"/>
              </a:defRPr>
            </a:pPr>
            <a:r>
              <a:t>Fuel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2697480"/>
            <a:ext cx="640080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26080" y="2697480"/>
            <a:ext cx="4572000" cy="32004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0" y="26517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0.0025 kg/₹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F1F5F9"/>
                </a:solidFill>
                <a:latin typeface="Segoe UI"/>
              </a:defRPr>
            </a:pPr>
            <a:r>
              <a:t>Electronics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246120"/>
            <a:ext cx="640080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26080" y="3246120"/>
            <a:ext cx="2743200" cy="320040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0" y="32004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0.0015 kg/₹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49039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F1F5F9"/>
                </a:solidFill>
                <a:latin typeface="Segoe UI"/>
              </a:defRPr>
            </a:pPr>
            <a:r>
              <a:t>Ride Hailing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3794759"/>
            <a:ext cx="640080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2926080" y="3794759"/>
            <a:ext cx="2194559" cy="320040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0" y="3749039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0.0012 kg/₹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97679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F1F5F9"/>
                </a:solidFill>
                <a:latin typeface="Segoe UI"/>
              </a:defRPr>
            </a:pPr>
            <a:r>
              <a:t>Electricity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26080" y="4343399"/>
            <a:ext cx="640080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926080" y="4343399"/>
            <a:ext cx="1499616" cy="32004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0" y="4297679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0.00082 kg/₹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463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F1F5F9"/>
                </a:solidFill>
                <a:latin typeface="Segoe UI"/>
              </a:defRPr>
            </a:pPr>
            <a:r>
              <a:t>Food Delivery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26080" y="4892040"/>
            <a:ext cx="640080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926080" y="4892040"/>
            <a:ext cx="1463039" cy="32004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01200" y="48463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0.0008 kg/₹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394959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F1F5F9"/>
                </a:solidFill>
                <a:latin typeface="Segoe UI"/>
              </a:defRPr>
            </a:pPr>
            <a:r>
              <a:t>Fashion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26080" y="5440679"/>
            <a:ext cx="640080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2926080" y="5440679"/>
            <a:ext cx="1097279" cy="32004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601200" y="5394959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0.0006 kg/₹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9436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F1F5F9"/>
                </a:solidFill>
                <a:latin typeface="Segoe UI"/>
              </a:defRPr>
            </a:pPr>
            <a:r>
              <a:t>Public Transport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26080" y="5989320"/>
            <a:ext cx="640080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2926080" y="5989320"/>
            <a:ext cx="274319" cy="32004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601200" y="59436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0.00015 kg/₹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5943600"/>
            <a:ext cx="10698480" cy="6400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>
                <a:solidFill>
                  <a:srgbClr val="F1F5F9"/>
                </a:solidFill>
                <a:latin typeface="Segoe UI"/>
              </a:defRPr>
            </a:pPr>
            <a:r>
              <a:t>CO₂ (kg)  =  Amount Spent (₹)  ×  Emission Factor       |       Example: ₹500 Swiggy = 0.4 kg CO₂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Segoe UI"/>
              </a:defRPr>
            </a:pPr>
            <a:r>
              <a:t>GAMIFICATION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Segoe UI"/>
              </a:defRPr>
            </a:pPr>
            <a:r>
              <a:t>Loop Score &amp; Personalities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Segoe UI"/>
              </a:defRPr>
            </a:pPr>
            <a:r>
              <a:t>Your Loop Score (0-1000) is benchmarked against others in your city. Higher score = lower relative footprint.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3474720" cy="155448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137160" cy="1554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97180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1F5F9"/>
                </a:solidFill>
                <a:latin typeface="Segoe UI"/>
              </a:defRPr>
            </a:pPr>
            <a:r>
              <a:t>Green Pioneer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0B981"/>
                </a:solidFill>
                <a:latin typeface="Segoe UI"/>
              </a:defRPr>
            </a:pPr>
            <a:r>
              <a:t>Score: 801-1000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Leading by example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743200"/>
            <a:ext cx="3474720" cy="155448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80559" y="2743200"/>
            <a:ext cx="137160" cy="15544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79" y="297180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1F5F9"/>
                </a:solidFill>
                <a:latin typeface="Segoe UI"/>
              </a:defRPr>
            </a:pPr>
            <a:r>
              <a:t>Conscious Optimizer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3832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22C55E"/>
                </a:solidFill>
                <a:latin typeface="Segoe UI"/>
              </a:defRPr>
            </a:pPr>
            <a:r>
              <a:t>Score: 651-800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74904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Sustainability is lifestyle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743200"/>
            <a:ext cx="3474720" cy="155448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2743200"/>
            <a:ext cx="137160" cy="1554480"/>
          </a:xfrm>
          <a:prstGeom prst="rect">
            <a:avLst/>
          </a:prstGeom>
          <a:solidFill>
            <a:srgbClr val="84C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3920" y="297180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1F5F9"/>
                </a:solidFill>
                <a:latin typeface="Segoe UI"/>
              </a:defRPr>
            </a:pPr>
            <a:r>
              <a:t>Mindful Consumer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3832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84CC16"/>
                </a:solidFill>
                <a:latin typeface="Segoe UI"/>
              </a:defRPr>
            </a:pPr>
            <a:r>
              <a:t>Score: 501-650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74904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Above average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72000"/>
            <a:ext cx="3474720" cy="155448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1520" y="4572000"/>
            <a:ext cx="137160" cy="155448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80060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1F5F9"/>
                </a:solidFill>
                <a:latin typeface="Segoe UI"/>
              </a:defRPr>
            </a:pPr>
            <a:r>
              <a:t>Convenience Consumer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212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AB308"/>
                </a:solidFill>
                <a:latin typeface="Segoe UI"/>
              </a:defRPr>
            </a:pPr>
            <a:r>
              <a:t>Score: 351-500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57784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Aware but inconsistent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59" y="4572000"/>
            <a:ext cx="3474720" cy="155448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80559" y="4572000"/>
            <a:ext cx="137160" cy="15544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54879" y="480060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1F5F9"/>
                </a:solidFill>
                <a:latin typeface="Segoe UI"/>
              </a:defRPr>
            </a:pPr>
            <a:r>
              <a:t>Habitual Spender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79" y="5212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F97316"/>
                </a:solidFill>
                <a:latin typeface="Segoe UI"/>
              </a:defRPr>
            </a:pPr>
            <a:r>
              <a:t>Score: 201-350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79" y="557784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Convenient but heavy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572000"/>
            <a:ext cx="3474720" cy="155448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229600" y="4572000"/>
            <a:ext cx="137160" cy="1554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03920" y="480060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1F5F9"/>
                </a:solidFill>
                <a:latin typeface="Segoe UI"/>
              </a:defRPr>
            </a:pPr>
            <a:r>
              <a:t>Carbon Heavy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212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F4444"/>
                </a:solidFill>
                <a:latin typeface="Segoe UI"/>
              </a:defRPr>
            </a:pPr>
            <a:r>
              <a:t>Score: 0-200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557784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Biggest wins ahead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Segoe UI"/>
              </a:defRPr>
            </a:pPr>
            <a:r>
              <a:t>REAL-WORLD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Segoe UI"/>
              </a:defRPr>
            </a:pPr>
            <a:r>
              <a:t>What 65 kg CO₂ Actually Looks 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Segoe UI"/>
              </a:defRPr>
            </a:pPr>
            <a:r>
              <a:t>India-relevant equivalents that make carbon tangible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468880"/>
            <a:ext cx="548640" cy="548640"/>
          </a:xfrm>
          <a:prstGeom prst="ellipse">
            <a:avLst/>
          </a:prstGeom>
          <a:solidFill>
            <a:srgbClr val="22C55E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2C55E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33172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2C55E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9718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trees needed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3375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to offset/month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103120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709159" y="2468880"/>
            <a:ext cx="548640" cy="548640"/>
          </a:xfrm>
          <a:prstGeom prst="ellipse">
            <a:avLst/>
          </a:prstGeom>
          <a:solidFill>
            <a:srgbClr val="F97316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9159" y="256032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97316"/>
                </a:solidFill>
                <a:latin typeface="Segoe UI"/>
              </a:defRPr>
            </a:pPr>
            <a:r>
              <a:t>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59" y="233172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97316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59" y="29718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km driven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9" y="33375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by petrol car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103120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458200" y="2468880"/>
            <a:ext cx="548640" cy="548640"/>
          </a:xfrm>
          <a:prstGeom prst="ellipse">
            <a:avLst/>
          </a:prstGeom>
          <a:solidFill>
            <a:srgbClr val="EAB308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58200" y="256032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EAB308"/>
                </a:solidFill>
                <a:latin typeface="Segoe UI"/>
              </a:defRPr>
            </a:pPr>
            <a: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33172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EAB308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9718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auto rides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3375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5km each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206240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960120" y="4572000"/>
            <a:ext cx="548640" cy="548640"/>
          </a:xfrm>
          <a:prstGeom prst="ellipse">
            <a:avLst/>
          </a:prstGeom>
          <a:solidFill>
            <a:srgbClr val="D97706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0120" y="46634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Segoe UI"/>
              </a:defRPr>
            </a:pPr>
            <a:r>
              <a:t>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43484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3,095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0749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chai cups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4406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cutting chai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80559" y="4206240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709159" y="4572000"/>
            <a:ext cx="548640" cy="548640"/>
          </a:xfrm>
          <a:prstGeom prst="ellipse">
            <a:avLst/>
          </a:prstGeom>
          <a:solidFill>
            <a:srgbClr val="3B82F6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09159" y="46634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B82F6"/>
                </a:solidFill>
                <a:latin typeface="Segoe UI"/>
              </a:defRPr>
            </a:pPr>
            <a:r>
              <a:t>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59" y="443484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59" y="50749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AC hours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59" y="54406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1.5 ton AC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4206240"/>
            <a:ext cx="3474720" cy="1828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458200" y="4572000"/>
            <a:ext cx="548640" cy="548640"/>
          </a:xfrm>
          <a:prstGeom prst="ellipse">
            <a:avLst/>
          </a:prstGeom>
          <a:solidFill>
            <a:srgbClr val="EF4444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58200" y="46634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EF4444"/>
                </a:solidFill>
                <a:latin typeface="Segoe UI"/>
              </a:defRPr>
            </a:pPr>
            <a:r>
              <a:t>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43484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EF4444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50749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pizza orders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54406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medium pizza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Segoe UI"/>
              </a:defRPr>
            </a:pPr>
            <a: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Segoe UI"/>
              </a:defRPr>
            </a:pPr>
            <a:r>
              <a:t>Everything You Need to Track &amp; Reduce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1508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411480" cy="411480"/>
          </a:xfrm>
          <a:prstGeom prst="ellipse">
            <a:avLst/>
          </a:prstGeom>
          <a:solidFill>
            <a:srgbClr val="22C55E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C55E"/>
                </a:solidFill>
                <a:latin typeface="Segoe UI"/>
              </a:defRPr>
            </a:pPr>
            <a:r>
              <a:t>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288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Segoe UI"/>
              </a:defRPr>
            </a:pPr>
            <a:r>
              <a:t>Auto CSV Parsing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Upload any bank/UPI CSV. AI reads and classifies every transaction.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645920"/>
            <a:ext cx="3474720" cy="1508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17719" y="1783080"/>
            <a:ext cx="411480" cy="411480"/>
          </a:xfrm>
          <a:prstGeom prst="ellipse">
            <a:avLst/>
          </a:prstGeom>
          <a:solidFill>
            <a:srgbClr val="4ADE80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719" y="184708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4ADE80"/>
                </a:solidFill>
                <a:latin typeface="Segoe UI"/>
              </a:defRPr>
            </a:pPr>
            <a:r>
              <a:t>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39" y="18288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Segoe UI"/>
              </a:defRPr>
            </a:pPr>
            <a:r>
              <a:t>Carbon Personality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39" y="228600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6 evolving personas based on your score. Not a number, a story.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645920"/>
            <a:ext cx="3474720" cy="1508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366760" y="1783080"/>
            <a:ext cx="411480" cy="411480"/>
          </a:xfrm>
          <a:prstGeom prst="ellipse">
            <a:avLst/>
          </a:prstGeom>
          <a:solidFill>
            <a:srgbClr val="3B82F6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184708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Segoe UI"/>
              </a:defRPr>
            </a:pPr>
            <a:r>
              <a:t>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18288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Segoe UI"/>
              </a:defRPr>
            </a:pPr>
            <a:r>
              <a:t>Carbon Calendar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28600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GitHub-style heatmap showing daily CO2 intensity.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337560"/>
            <a:ext cx="3474720" cy="1508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68680" y="3474720"/>
            <a:ext cx="411480" cy="411480"/>
          </a:xfrm>
          <a:prstGeom prst="ellipse">
            <a:avLst/>
          </a:prstGeom>
          <a:solidFill>
            <a:srgbClr val="EAB308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353872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AB308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Segoe UI"/>
              </a:defRPr>
            </a:pPr>
            <a:r>
              <a:t>City Rankings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9776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See your percentile among all LOOP users in your city.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59" y="3337560"/>
            <a:ext cx="3474720" cy="1508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17719" y="3474720"/>
            <a:ext cx="411480" cy="411480"/>
          </a:xfrm>
          <a:prstGeom prst="ellipse">
            <a:avLst/>
          </a:prstGeom>
          <a:solidFill>
            <a:srgbClr val="14B8A6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17719" y="353872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B8A6"/>
                </a:solidFill>
                <a:latin typeface="Segoe UI"/>
              </a:defRPr>
            </a:pPr>
            <a:r>
              <a:t>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39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Segoe UI"/>
              </a:defRPr>
            </a:pPr>
            <a:r>
              <a:t>Local Action Map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39" y="39776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Recycling centers, e-waste drops, repair cafes near you.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3337560"/>
            <a:ext cx="3474720" cy="1508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366760" y="3474720"/>
            <a:ext cx="411480" cy="411480"/>
          </a:xfrm>
          <a:prstGeom prst="ellipse">
            <a:avLst/>
          </a:prstGeom>
          <a:solidFill>
            <a:srgbClr val="8B5CF6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66760" y="353872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8B5CF6"/>
                </a:solidFill>
                <a:latin typeface="Segoe UI"/>
              </a:defRPr>
            </a:pPr>
            <a:r>
              <a:t>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Segoe UI"/>
              </a:defRPr>
            </a:pPr>
            <a:r>
              <a:t>AI Carbon 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39776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Weekly narrative written by AI. Specific, honest, actionable.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029200"/>
            <a:ext cx="3474720" cy="1508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68680" y="5166360"/>
            <a:ext cx="411480" cy="411480"/>
          </a:xfrm>
          <a:prstGeom prst="ellipse">
            <a:avLst/>
          </a:prstGeom>
          <a:solidFill>
            <a:srgbClr val="EC4899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23036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C4899"/>
                </a:solidFill>
                <a:latin typeface="Segoe UI"/>
              </a:defRPr>
            </a:pPr>
            <a:r>
              <a:t>●●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5212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Segoe UI"/>
              </a:defRPr>
            </a:pPr>
            <a:r>
              <a:t>Social Circles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566928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Create groups with friends. Compete on leaderboards.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80559" y="5029200"/>
            <a:ext cx="3474720" cy="1508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4617719" y="5166360"/>
            <a:ext cx="411480" cy="411480"/>
          </a:xfrm>
          <a:prstGeom prst="ellipse">
            <a:avLst/>
          </a:prstGeom>
          <a:solidFill>
            <a:srgbClr val="F97316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617719" y="523036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97316"/>
                </a:solidFill>
                <a:latin typeface="Segoe UI"/>
              </a:defRPr>
            </a:pPr>
            <a:r>
              <a:t>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0639" y="5212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Segoe UI"/>
              </a:defRPr>
            </a:pPr>
            <a:r>
              <a:t>Manual Logger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39" y="566928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Quick-add buttons for common expenses. No CSV needed.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0" y="5029200"/>
            <a:ext cx="3474720" cy="1508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366760" y="5166360"/>
            <a:ext cx="411480" cy="411480"/>
          </a:xfrm>
          <a:prstGeom prst="ellipse">
            <a:avLst/>
          </a:prstGeom>
          <a:solidFill>
            <a:srgbClr val="FBBF24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66760" y="523036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BBF24"/>
                </a:solidFill>
                <a:latin typeface="Segoe UI"/>
              </a:defRPr>
            </a:pPr>
            <a:r>
              <a:t>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5212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1F5F9"/>
                </a:solidFill>
                <a:latin typeface="Segoe UI"/>
              </a:defRPr>
            </a:pPr>
            <a:r>
              <a:t>Milestones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566928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9 achievement badges. Gamified progress tracking.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Segoe UI"/>
              </a:defRPr>
            </a:pPr>
            <a: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Segoe UI"/>
              </a:defRPr>
            </a:pPr>
            <a:r>
              <a:t>Driving Real Behavior 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74720" cy="210312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347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2C55E"/>
                </a:solidFill>
                <a:latin typeface="Segoe UI"/>
              </a:defRPr>
            </a:pPr>
            <a:r>
              <a:t>10-15%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1F5F9"/>
                </a:solidFill>
                <a:latin typeface="Segoe UI"/>
              </a:defRPr>
            </a:pPr>
            <a:r>
              <a:t>Emission Reduction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Average reduction by users who track carbon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737360"/>
            <a:ext cx="3474720" cy="210312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0559" y="1920240"/>
            <a:ext cx="347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4ADE80"/>
                </a:solidFill>
                <a:latin typeface="Segoe UI"/>
              </a:defRPr>
            </a:pPr>
            <a:r>
              <a:t>3x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283464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1F5F9"/>
                </a:solidFill>
                <a:latin typeface="Segoe UI"/>
              </a:defRPr>
            </a:pPr>
            <a:r>
              <a:t>Engagement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32918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Social comparison increases engagement over solo tracking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737360"/>
            <a:ext cx="3474720" cy="210312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1920240"/>
            <a:ext cx="347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2C55E"/>
                </a:solidFill>
                <a:latin typeface="Segoe UI"/>
              </a:defRPr>
            </a:pPr>
            <a:r>
              <a:t>5x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83464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1F5F9"/>
                </a:solidFill>
                <a:latin typeface="Segoe UI"/>
              </a:defRPr>
            </a:pPr>
            <a:r>
              <a:t>Retention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2918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Gamification improves retention vs basic tracking apps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F1F5F9"/>
                </a:solidFill>
                <a:latin typeface="Segoe UI"/>
              </a:defRPr>
            </a:pPr>
            <a:r>
              <a:t>Three Levels of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634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  <a:latin typeface="Segoe UI"/>
              </a:defRPr>
            </a:pPr>
            <a:r>
              <a:t>Individual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2920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Awareness of where carbon comes from. Actionable insights specific to spending.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46634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  <a:latin typeface="Segoe UI"/>
              </a:defRPr>
            </a:pPr>
            <a:r>
              <a:t>Social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502920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City rankings and friend circles create healthy competition and accountability.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6634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  <a:latin typeface="Segoe UI"/>
              </a:defRPr>
            </a:pPr>
            <a:r>
              <a:t>Systemic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02920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Aggregated data reveals consumption patterns. Connects users to local solutions.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Segoe UI"/>
              </a:defRPr>
            </a:pPr>
            <a:r>
              <a:t>COMPETITIVE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Segoe UI"/>
              </a:defRPr>
            </a:pPr>
            <a:r>
              <a:t>Why LOOP is Different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3657600" cy="548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1737360"/>
            <a:ext cx="3200400" cy="548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Other Apps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1737360"/>
            <a:ext cx="3200400" cy="548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79" y="18288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C55E"/>
                </a:solidFill>
                <a:latin typeface="Segoe UI"/>
              </a:defRPr>
            </a:pPr>
            <a:r>
              <a:t>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F1F5F9"/>
                </a:solidFill>
                <a:latin typeface="Segoe UI"/>
              </a:defRPr>
            </a:pPr>
            <a:r>
              <a:t>Data 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3774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✗ Manual logging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3774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22C55E"/>
                </a:solidFill>
                <a:latin typeface="Segoe UI"/>
              </a:defRPr>
            </a:pPr>
            <a:r>
              <a:t>✓ Auto CSV parsing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80360"/>
            <a:ext cx="1042416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F1F5F9"/>
                </a:solidFill>
                <a:latin typeface="Segoe UI"/>
              </a:defRPr>
            </a:pPr>
            <a:r>
              <a:t>Benchmarking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0175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✗ Global averages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0175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22C55E"/>
                </a:solidFill>
                <a:latin typeface="Segoe UI"/>
              </a:defRPr>
            </a:pPr>
            <a:r>
              <a:t>✓ City-specific peers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520440"/>
            <a:ext cx="1042416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3657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F1F5F9"/>
                </a:solidFill>
                <a:latin typeface="Segoe UI"/>
              </a:defRPr>
            </a:pPr>
            <a:r>
              <a:t>Suggestions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6576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✗ Generic tips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36576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22C55E"/>
                </a:solidFill>
                <a:latin typeface="Segoe UI"/>
              </a:defRPr>
            </a:pPr>
            <a:r>
              <a:t>✓ City + spending filtered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160520"/>
            <a:ext cx="1042416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297679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F1F5F9"/>
                </a:solidFill>
                <a:latin typeface="Segoe UI"/>
              </a:defRPr>
            </a:pPr>
            <a:r>
              <a:t>Social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297679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✗ None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297679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22C55E"/>
                </a:solidFill>
                <a:latin typeface="Segoe UI"/>
              </a:defRPr>
            </a:pPr>
            <a:r>
              <a:t>✓ Circles &amp; leaderboards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800599"/>
            <a:ext cx="1042416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4937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F1F5F9"/>
                </a:solidFill>
                <a:latin typeface="Segoe UI"/>
              </a:defRPr>
            </a:pPr>
            <a:r>
              <a:t>Personality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49377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✗ Just numbers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9377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22C55E"/>
                </a:solidFill>
                <a:latin typeface="Segoe UI"/>
              </a:defRPr>
            </a:pPr>
            <a:r>
              <a:t>✓ 6 evolving personas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440680"/>
            <a:ext cx="1042416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F1F5F9"/>
                </a:solidFill>
                <a:latin typeface="Segoe UI"/>
              </a:defRPr>
            </a:pPr>
            <a:r>
              <a:t>AI Features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55778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✗ Basic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55778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22C55E"/>
                </a:solidFill>
                <a:latin typeface="Segoe UI"/>
              </a:defRPr>
            </a:pPr>
            <a:r>
              <a:t>✓ LLM classification + stories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Segoe UI"/>
              </a:defRPr>
            </a:pPr>
            <a:r>
              <a:t>SECURITY &amp;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Segoe UI"/>
              </a:defRPr>
            </a:pPr>
            <a:r>
              <a:t>Built to Prevent Gaming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Segoe UI"/>
              </a:defRPr>
            </a:pPr>
            <a:r>
              <a:t>Leaderboards are only meaningful if they cannot be cheated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5212080" cy="201168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Hexagon 6"/>
          <p:cNvSpPr/>
          <p:nvPr/>
        </p:nvSpPr>
        <p:spPr>
          <a:xfrm>
            <a:off x="1005840" y="2377440"/>
            <a:ext cx="548640" cy="548640"/>
          </a:xfrm>
          <a:prstGeom prst="hexagon">
            <a:avLst/>
          </a:prstGeom>
          <a:solidFill>
            <a:srgbClr val="22C55E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4688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2C55E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33172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1F5F9"/>
                </a:solidFill>
                <a:latin typeface="Segoe UI"/>
              </a:defRPr>
            </a:pPr>
            <a:r>
              <a:t>SHA-256 CSV Hash 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17520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Every uploaded CSV is hashed using SHA-256. If a user tries to re-upload the same file (even with a different filename), the system detects it and blocks the upload. This prevents users from inflating their scores by uploading the same transactions multiple times.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103120"/>
            <a:ext cx="5212080" cy="201168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92240" y="2377440"/>
            <a:ext cx="548640" cy="548640"/>
          </a:xfrm>
          <a:prstGeom prst="ellipse">
            <a:avLst/>
          </a:prstGeom>
          <a:solidFill>
            <a:srgbClr val="8B5CF6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4688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8B5CF6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33172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1F5F9"/>
                </a:solidFill>
                <a:latin typeface="Segoe UI"/>
              </a:defRPr>
            </a:pPr>
            <a:r>
              <a:t>OTP Email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17520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All user accounts require email verification via one-time password (OTP). This prevents bot account creation and ensures each user on the leaderboard is a real person with a verified email address.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1F5F9"/>
                </a:solidFill>
                <a:latin typeface="Segoe UI"/>
              </a:defRPr>
            </a:pPr>
            <a:r>
              <a:t>How It Protects Leaderboard Integrity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46320"/>
            <a:ext cx="3474720" cy="118872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49834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  <a:latin typeface="Segoe UI"/>
              </a:defRPr>
            </a:pPr>
            <a:r>
              <a:t>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98348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Duplicate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Same CSV content = blocked, regardless of filename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59" y="4846320"/>
            <a:ext cx="3474720" cy="118872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63439" y="49834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  <a:latin typeface="Segoe UI"/>
              </a:defRPr>
            </a:pPr>
            <a: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59" y="498348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Real Users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39" y="53949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Email OTP verification prevents fake accounts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846320"/>
            <a:ext cx="3474720" cy="1188720"/>
          </a:xfrm>
          <a:prstGeom prst="roundRect">
            <a:avLst/>
          </a:prstGeom>
          <a:solidFill>
            <a:srgbClr val="141E2D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80" y="49834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  <a:latin typeface="Segoe UI"/>
              </a:defRPr>
            </a:pPr>
            <a:r>
              <a:t>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98348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Fair Competition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53949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Rankings reflect actual behavior, not gaming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Segoe UI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1F5F9"/>
                </a:solidFill>
                <a:latin typeface="Segoe UI"/>
              </a:defRPr>
            </a:pPr>
            <a:r>
              <a:t>What's Next for LOOP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828800"/>
            <a:ext cx="731520" cy="731520"/>
          </a:xfrm>
          <a:prstGeom prst="ellipse">
            <a:avLst/>
          </a:prstGeom>
          <a:solidFill>
            <a:srgbClr val="22C55E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80B0F"/>
                </a:solidFill>
                <a:latin typeface="Segoe UI"/>
              </a:defRPr>
            </a:pPr>
            <a:r>
              <a:t>Now</a:t>
            </a:r>
          </a:p>
        </p:txBody>
      </p:sp>
      <p:sp>
        <p:nvSpPr>
          <p:cNvPr id="7" name="Rectangle 6"/>
          <p:cNvSpPr/>
          <p:nvPr/>
        </p:nvSpPr>
        <p:spPr>
          <a:xfrm>
            <a:off x="1554480" y="2148840"/>
            <a:ext cx="2834640" cy="25400"/>
          </a:xfrm>
          <a:prstGeom prst="rect">
            <a:avLst/>
          </a:prstGeom>
          <a:solidFill>
            <a:srgbClr val="22C55E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F1F5F9"/>
                </a:solidFill>
                <a:latin typeface="Segoe UI"/>
              </a:defRPr>
            </a:pPr>
            <a:r>
              <a:t>Core Platform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200400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CSV parsing &amp; AI classification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703320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61188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Loop Score &amp; personalities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206240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City rankings &amp; circles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4709160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6177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Manual expense logging</a:t>
            </a:r>
          </a:p>
        </p:txBody>
      </p:sp>
      <p:sp>
        <p:nvSpPr>
          <p:cNvPr id="17" name="Oval 16"/>
          <p:cNvSpPr/>
          <p:nvPr/>
        </p:nvSpPr>
        <p:spPr>
          <a:xfrm>
            <a:off x="4480559" y="1828800"/>
            <a:ext cx="731520" cy="731520"/>
          </a:xfrm>
          <a:prstGeom prst="ellipse">
            <a:avLst/>
          </a:prstGeom>
          <a:solidFill>
            <a:srgbClr val="111827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80559" y="19659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  <a:latin typeface="Segoe UI"/>
              </a:defRPr>
            </a:pPr>
            <a:r>
              <a:t>Next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19" y="2148840"/>
            <a:ext cx="2834640" cy="25400"/>
          </a:xfrm>
          <a:prstGeom prst="rect">
            <a:avLst/>
          </a:prstGeom>
          <a:solidFill>
            <a:srgbClr val="22C55E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80559" y="26517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F1F5F9"/>
                </a:solidFill>
                <a:latin typeface="Segoe UI"/>
              </a:defRPr>
            </a:pPr>
            <a:r>
              <a:t>Enhancements</a:t>
            </a:r>
          </a:p>
        </p:txBody>
      </p:sp>
      <p:sp>
        <p:nvSpPr>
          <p:cNvPr id="21" name="Oval 20"/>
          <p:cNvSpPr/>
          <p:nvPr/>
        </p:nvSpPr>
        <p:spPr>
          <a:xfrm>
            <a:off x="4480559" y="3200400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09159" y="31089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Bank API integration (no CSV needed)</a:t>
            </a:r>
          </a:p>
        </p:txBody>
      </p:sp>
      <p:sp>
        <p:nvSpPr>
          <p:cNvPr id="23" name="Oval 22"/>
          <p:cNvSpPr/>
          <p:nvPr/>
        </p:nvSpPr>
        <p:spPr>
          <a:xfrm>
            <a:off x="4480559" y="3703320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09159" y="361188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Carbon offset marketplace</a:t>
            </a:r>
          </a:p>
        </p:txBody>
      </p:sp>
      <p:sp>
        <p:nvSpPr>
          <p:cNvPr id="25" name="Oval 24"/>
          <p:cNvSpPr/>
          <p:nvPr/>
        </p:nvSpPr>
        <p:spPr>
          <a:xfrm>
            <a:off x="4480559" y="4206240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09159" y="41148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Corporate team features</a:t>
            </a:r>
          </a:p>
        </p:txBody>
      </p:sp>
      <p:sp>
        <p:nvSpPr>
          <p:cNvPr id="27" name="Oval 26"/>
          <p:cNvSpPr/>
          <p:nvPr/>
        </p:nvSpPr>
        <p:spPr>
          <a:xfrm>
            <a:off x="4480559" y="4709160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09159" y="46177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Mobile app (iOS/Android)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0" y="1828800"/>
            <a:ext cx="731520" cy="731520"/>
          </a:xfrm>
          <a:prstGeom prst="ellipse">
            <a:avLst/>
          </a:prstGeom>
          <a:solidFill>
            <a:srgbClr val="111827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0" y="19659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  <a:latin typeface="Segoe UI"/>
              </a:defRPr>
            </a:pPr>
            <a:r>
              <a:t>Future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26517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F1F5F9"/>
                </a:solidFill>
                <a:latin typeface="Segoe UI"/>
              </a:defRPr>
            </a:pPr>
            <a:r>
              <a:t>Scale</a:t>
            </a:r>
          </a:p>
        </p:txBody>
      </p:sp>
      <p:sp>
        <p:nvSpPr>
          <p:cNvPr id="32" name="Oval 31"/>
          <p:cNvSpPr/>
          <p:nvPr/>
        </p:nvSpPr>
        <p:spPr>
          <a:xfrm>
            <a:off x="8229600" y="3200400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58200" y="31089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Pan-India expansion</a:t>
            </a:r>
          </a:p>
        </p:txBody>
      </p:sp>
      <p:sp>
        <p:nvSpPr>
          <p:cNvPr id="34" name="Oval 33"/>
          <p:cNvSpPr/>
          <p:nvPr/>
        </p:nvSpPr>
        <p:spPr>
          <a:xfrm>
            <a:off x="8229600" y="3703320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58200" y="361188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Regional language support</a:t>
            </a:r>
          </a:p>
        </p:txBody>
      </p:sp>
      <p:sp>
        <p:nvSpPr>
          <p:cNvPr id="36" name="Oval 35"/>
          <p:cNvSpPr/>
          <p:nvPr/>
        </p:nvSpPr>
        <p:spPr>
          <a:xfrm>
            <a:off x="8229600" y="4206240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58200" y="41148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Government partnerships</a:t>
            </a:r>
          </a:p>
        </p:txBody>
      </p:sp>
      <p:sp>
        <p:nvSpPr>
          <p:cNvPr id="38" name="Oval 37"/>
          <p:cNvSpPr/>
          <p:nvPr/>
        </p:nvSpPr>
        <p:spPr>
          <a:xfrm>
            <a:off x="8229600" y="4709160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58200" y="46177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Carbon credit integration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22C55E">
              <a:lumMod val="15000"/>
              <a:lumOff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229600" y="2743200"/>
            <a:ext cx="5486400" cy="5486400"/>
          </a:xfrm>
          <a:prstGeom prst="ellipse">
            <a:avLst/>
          </a:prstGeom>
          <a:solidFill>
            <a:srgbClr val="4ADE80">
              <a:lumMod val="10000"/>
              <a:lumOff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F1F5F9"/>
                </a:solidFill>
                <a:latin typeface="Segoe UI"/>
              </a:defRPr>
            </a:pPr>
            <a:r>
              <a:t>Close the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22C55E"/>
                </a:solidFill>
                <a:latin typeface="Segoe UI"/>
              </a:defRPr>
            </a:pPr>
            <a:r>
              <a:t>See your impact. Understand it. Change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4389120"/>
            <a:ext cx="3931920" cy="73152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0" y="452628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80B0F"/>
                </a:solidFill>
                <a:latin typeface="Segoe UI"/>
              </a:defRPr>
            </a:pPr>
            <a:r>
              <a:t>Try LOOP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1F5F9"/>
                </a:solidFill>
                <a:latin typeface="Segoe UI"/>
              </a:defRPr>
            </a:pPr>
            <a:r>
              <a:t>Thank you!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HackOut'26 | DAU 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1033</Words>
  <Application>Microsoft Office PowerPoint</Application>
  <PresentationFormat>Widescreen</PresentationFormat>
  <Paragraphs>242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Office</cp:lastModifiedBy>
  <cp:revision>2</cp:revision>
  <dcterms:created xsi:type="dcterms:W3CDTF">2013-01-27T09:14:16Z</dcterms:created>
  <dcterms:modified xsi:type="dcterms:W3CDTF">2026-09-13T03:03:14Z</dcterms:modified>
  <cp:category/>
</cp:coreProperties>
</file>