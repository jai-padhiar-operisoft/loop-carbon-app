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2C55E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4ADE80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1F5F9"/>
                </a:solidFill>
                <a:latin typeface="Segoe UI"/>
              </a:defRPr>
            </a:pPr>
            <a:r>
              <a:t>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22C55E"/>
                </a:solidFill>
                <a:latin typeface="Segoe UI"/>
              </a:defRPr>
            </a:pPr>
            <a:r>
              <a:t>Your Carbon 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Not a carbon tracker. A carbon mirror that talks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HackOut'26 | DAU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THE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1F5F9"/>
                </a:solidFill>
                <a:latin typeface="Segoe UI"/>
              </a:defRPr>
            </a:pPr>
            <a:r>
              <a:t>We are running out of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2860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F4444"/>
                </a:solidFill>
                <a:latin typeface="Segoe UI"/>
              </a:defRPr>
            </a:pPr>
            <a:r>
              <a:t>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Year we will breach 1.5°C warming</a:t>
            </a:r>
            <a:br/>
            <a:r>
              <a:t>The point of no return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Segoe UI"/>
              </a:defRPr>
            </a:pPr>
            <a:r>
              <a:t>3.19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Tonnes CO2 emitted by India in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0292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154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165 Million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Tonnes increase in just one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0292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Segoe UI"/>
              </a:defRPr>
            </a:pPr>
            <a: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Of global emissions from household consumption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India had the largest emission increase of any country in 2024. Individual action is no longer optional.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  <a:latin typeface="Segoe UI"/>
              </a:defRPr>
            </a:pPr>
            <a:r>
              <a:t>Most people have no idea where</a:t>
            </a:r>
            <a:br/>
            <a:r>
              <a:t>their carbon comes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423160"/>
            <a:ext cx="457200" cy="457200"/>
          </a:xfrm>
          <a:prstGeom prst="ellipse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No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You know "cars are bad" but have no idea your Swiggy habit creates 2x the carbon.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423160"/>
            <a:ext cx="457200" cy="457200"/>
          </a:xfrm>
          <a:prstGeom prst="ellipse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68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Manual Entry 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Existing apps need you to log every purchase. Nobody does that for more than 3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79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526279"/>
            <a:ext cx="457200" cy="457200"/>
          </a:xfrm>
          <a:prstGeom prst="ellipse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719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7199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Generic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79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"Take public transport" is useless if you live where there isn't any.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79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26279"/>
            <a:ext cx="457200" cy="457200"/>
          </a:xfrm>
          <a:prstGeom prst="ellipse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719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7199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Guilt Without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12079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Individual shaming without peer comparison doesn't change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22C55E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1F5F9"/>
                </a:solidFill>
                <a:latin typeface="Segoe UI"/>
              </a:defRPr>
            </a:pPr>
            <a:r>
              <a:t>Introducing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4ADE80"/>
                </a:solidFill>
                <a:latin typeface="Segoe UI"/>
              </a:defRPr>
            </a:pPr>
            <a:r>
              <a:t>Your personal carbon mirror.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2608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Upload your bank CSV. See your carbon in 30 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2044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AI classifies every transaction automatically.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1480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Get a score, a personality, and real comparisons.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0916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Actions tailored to YOUR city and YOUR spending.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30352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Compete with friends. Change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200400"/>
            <a:ext cx="3840480" cy="2560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4747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  <a:latin typeface="Segoe UI"/>
              </a:defRPr>
            </a:pPr>
            <a:r>
              <a:t>Zero Manual Entry</a:t>
            </a:r>
          </a:p>
          <a:p>
            <a:pPr>
              <a:spcBef>
                <a:spcPts val="120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Just export your bank statement.</a:t>
            </a:r>
            <a:br/>
            <a:r>
              <a:t>We do the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From CSV to Carbon Score in 30 Seconds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80B0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45920" y="2194560"/>
            <a:ext cx="1645920" cy="365760"/>
          </a:xfrm>
          <a:prstGeom prst="rightArrow">
            <a:avLst/>
          </a:prstGeom>
          <a:solidFill>
            <a:srgbClr val="22C55E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Export CSV from your bank or UPI app. Drop it in LOOP.</a:t>
            </a:r>
          </a:p>
        </p:txBody>
      </p:sp>
      <p:sp>
        <p:nvSpPr>
          <p:cNvPr id="10" name="Oval 9"/>
          <p:cNvSpPr/>
          <p:nvPr/>
        </p:nvSpPr>
        <p:spPr>
          <a:xfrm>
            <a:off x="3566160" y="201168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80B0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80560" y="2194560"/>
            <a:ext cx="1645920" cy="365760"/>
          </a:xfrm>
          <a:prstGeom prst="rightArrow">
            <a:avLst/>
          </a:prstGeom>
          <a:solidFill>
            <a:srgbClr val="22C55E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AI categorizes every merchant into 14 carbon categories.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80B0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15200" y="2194560"/>
            <a:ext cx="1645920" cy="365760"/>
          </a:xfrm>
          <a:prstGeom prst="rightArrow">
            <a:avLst/>
          </a:prstGeom>
          <a:solidFill>
            <a:srgbClr val="22C55E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Emission factors compute CO2 for each transaction.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201168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80B0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Reveal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383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Your Loop Score, personality, and breakdown appear.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486400"/>
            <a:ext cx="1554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Next.js 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5486400"/>
            <a:ext cx="1554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5532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5486400"/>
            <a:ext cx="1554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5532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SQLite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79" y="5486400"/>
            <a:ext cx="1554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79" y="5532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OpenRouter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486400"/>
            <a:ext cx="1554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5532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5486400"/>
            <a:ext cx="1554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>
                <a:lumMod val="70000"/>
                <a:lumOff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5532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Leaflet Maps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THE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Emission Factors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Based on GHG Protocol and DEFRA standards, adapted for Indian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Flights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48840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148840"/>
            <a:ext cx="64008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0.0035 kg/₹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Fuel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697480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697480"/>
            <a:ext cx="457200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0.0025 kg/₹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Electronics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246120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3246120"/>
            <a:ext cx="2743200" cy="3200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0.0015 kg/₹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Ride Hailing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794759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26080" y="3794759"/>
            <a:ext cx="2194559" cy="3200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0.0012 kg/₹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7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Electricity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343399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4343399"/>
            <a:ext cx="1499616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42976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0.00082 kg/₹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Food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892040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26080" y="4892040"/>
            <a:ext cx="1463039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0.0008 kg/₹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5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Fashion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5440679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26080" y="5440679"/>
            <a:ext cx="1097279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53949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0.0006 kg/₹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Public Transport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5989320"/>
            <a:ext cx="6400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26080" y="5989320"/>
            <a:ext cx="274319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594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0.00015 kg/₹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1F5F9"/>
                </a:solidFill>
                <a:latin typeface="Segoe UI"/>
              </a:defRPr>
            </a:pPr>
            <a:r>
              <a:t>CO₂ (kg)  =  Amount Spent (₹)  ×  Emission Factor       |       Example: ₹500 Swiggy = 0.4 kg CO₂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Loop Score &amp; Personalities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Your Loop Score (0-1000) is benchmarked against others in your city. Higher score = lower relative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74720" cy="1554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3716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Green Pioneer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Segoe UI"/>
              </a:defRPr>
            </a:pPr>
            <a:r>
              <a:t>Score: 801-1000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Leading by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743200"/>
            <a:ext cx="3474720" cy="1554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743200"/>
            <a:ext cx="137160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Conscious 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3832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Segoe UI"/>
              </a:defRPr>
            </a:pPr>
            <a:r>
              <a:t>Score: 651-800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749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Sustainability is lifestyle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3474720" cy="1554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743200"/>
            <a:ext cx="137160" cy="155448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9718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Mindful Consumer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4CC16"/>
                </a:solidFill>
                <a:latin typeface="Segoe UI"/>
              </a:defRPr>
            </a:pPr>
            <a:r>
              <a:t>Score: 501-650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49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Above average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3474720" cy="1554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137160" cy="15544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00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Convenience 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  <a:latin typeface="Segoe UI"/>
              </a:defRPr>
            </a:pPr>
            <a:r>
              <a:t>Score: 351-500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Aware but inconsistent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572000"/>
            <a:ext cx="3474720" cy="1554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4572000"/>
            <a:ext cx="137160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800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Habitual Spender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5212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97316"/>
                </a:solidFill>
                <a:latin typeface="Segoe UI"/>
              </a:defRPr>
            </a:pPr>
            <a:r>
              <a:t>Score: 201-350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5577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Convenient but heavy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572000"/>
            <a:ext cx="3474720" cy="1554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572000"/>
            <a:ext cx="137160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800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Carbon Heavy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212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Segoe UI"/>
              </a:defRPr>
            </a:pPr>
            <a:r>
              <a:t>Score: 0-200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577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Biggest wins ahead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What 65 kg CO₂ Actually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India-relevant equivalents that make carbon tangible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468880"/>
            <a:ext cx="548640" cy="548640"/>
          </a:xfrm>
          <a:prstGeom prst="ellipse">
            <a:avLst/>
          </a:prstGeom>
          <a:solidFill>
            <a:srgbClr val="22C55E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71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trees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 offset/month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0312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59" y="2468880"/>
            <a:ext cx="548640" cy="548640"/>
          </a:xfrm>
          <a:prstGeom prst="ellipse">
            <a:avLst/>
          </a:prstGeom>
          <a:solidFill>
            <a:srgbClr val="F9731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60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Segoe UI"/>
              </a:defRPr>
            </a:pPr>
            <a: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3317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Segoe UI"/>
              </a:defRPr>
            </a:pPr>
            <a:r>
              <a:t>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971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km 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3337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by petrol car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10312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468880"/>
            <a:ext cx="548640" cy="548640"/>
          </a:xfrm>
          <a:prstGeom prst="ellipse">
            <a:avLst/>
          </a:prstGeom>
          <a:solidFill>
            <a:srgbClr val="EAB30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560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AB308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317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AB308"/>
                </a:solidFill>
                <a:latin typeface="Segoe UI"/>
              </a:defRPr>
            </a:pPr>
            <a:r>
              <a:t>433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71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auto rides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37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5km each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4572000"/>
            <a:ext cx="548640" cy="548640"/>
          </a:xfrm>
          <a:prstGeom prst="ellipse">
            <a:avLst/>
          </a:prstGeom>
          <a:solidFill>
            <a:srgbClr val="D9770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63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Segoe UI"/>
              </a:defRPr>
            </a:pPr>
            <a: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4348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3,095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074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chai cups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cutting chai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20624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159" y="4572000"/>
            <a:ext cx="548640" cy="54864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4663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59" y="44348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5074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AC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1.5 ton AC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58200" y="4572000"/>
            <a:ext cx="548640" cy="548640"/>
          </a:xfrm>
          <a:prstGeom prst="ellipse">
            <a:avLst/>
          </a:prstGeom>
          <a:solidFill>
            <a:srgbClr val="EF4444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663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4348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074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pizza orders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medium pizza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Everything You Need to Track &amp; Reduce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411480" cy="411480"/>
          </a:xfrm>
          <a:prstGeom prst="ellipse">
            <a:avLst/>
          </a:prstGeom>
          <a:solidFill>
            <a:srgbClr val="22C55E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Auto CSV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Upload any bank/UPI CSV. AI reads and classifies every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19" y="1783080"/>
            <a:ext cx="411480" cy="411480"/>
          </a:xfrm>
          <a:prstGeom prst="ellipse">
            <a:avLst/>
          </a:prstGeom>
          <a:solidFill>
            <a:srgbClr val="4ADE80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184708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39" y="18288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Carbon Personality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28600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6 evolving personas based on your score. Not a number, a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783080"/>
            <a:ext cx="411480" cy="41148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4708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Carbon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GitHub-style heatmap showing daily CO2 intensity.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3756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EAB30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387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AB308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City Rankings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See your percentile among all LOOP users in your city.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33756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19" y="3474720"/>
            <a:ext cx="411480" cy="411480"/>
          </a:xfrm>
          <a:prstGeom prst="ellipse">
            <a:avLst/>
          </a:prstGeom>
          <a:solidFill>
            <a:srgbClr val="14B8A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19" y="35387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39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Local Action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39776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Recycling centers, e-waste drops, repair cafes near you.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3474720"/>
            <a:ext cx="411480" cy="41148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5387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AI Carbon 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776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Weekly narrative written by AI. Specific, honest, actionable.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2920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" y="5166360"/>
            <a:ext cx="411480" cy="411480"/>
          </a:xfrm>
          <a:prstGeom prst="ellipse">
            <a:avLst/>
          </a:prstGeom>
          <a:solidFill>
            <a:srgbClr val="EC4899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303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212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Social Circles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692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Create groups with friends. Compete on leaderboards.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59" y="502920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17719" y="5166360"/>
            <a:ext cx="411480" cy="411480"/>
          </a:xfrm>
          <a:prstGeom prst="ellipse">
            <a:avLst/>
          </a:prstGeom>
          <a:solidFill>
            <a:srgbClr val="F9731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19" y="52303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39" y="5212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Manual Logger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39" y="56692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Quick-add buttons for common expenses. No CSV needed.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5029200"/>
            <a:ext cx="34747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66760" y="5166360"/>
            <a:ext cx="411480" cy="411480"/>
          </a:xfrm>
          <a:prstGeom prst="ellipse">
            <a:avLst/>
          </a:prstGeom>
          <a:solidFill>
            <a:srgbClr val="FBBF24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52303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5212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Milestones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6692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9 achievement badges. Gamified progress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See LOOP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36576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Segoe UI"/>
              </a:defRPr>
            </a:pPr>
            <a:r>
              <a:t>[LIVE DEMO]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Score, personality, breakdown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74720" cy="36576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3200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Segoe UI"/>
              </a:defRPr>
            </a:pPr>
            <a:r>
              <a:t>[LIVE DEMO]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5486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Action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5897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 recycling &amp; repair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474720" cy="36576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Segoe UI"/>
              </a:defRPr>
            </a:pPr>
            <a:r>
              <a:t>[LIVE DEMO]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486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Circles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897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Social leaderboards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Driving Real Behavior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21031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  <a:latin typeface="Segoe UI"/>
              </a:defRPr>
            </a:pPr>
            <a:r>
              <a:t>10-15%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Emission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Average reduction by users who track carbon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74720" cy="21031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  <a:latin typeface="Segoe UI"/>
              </a:defRPr>
            </a:pPr>
            <a:r>
              <a:t>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8346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Social comparison increases engagement over solo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474720" cy="21031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  <a:latin typeface="Segoe UI"/>
              </a:defRPr>
            </a:pPr>
            <a:r>
              <a:t>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Gamification improves retention vs basic tracking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Three Levels of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Individual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Awareness of where carbon comes from. Actionable insights specific to spending.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663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5029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City rankings and friend circles create healthy competition and accountability.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Systemic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029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Aggregated data reveals consumption patterns. Connects users to local solutions.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Why LOOP 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6576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737360"/>
            <a:ext cx="32004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Other Apps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737360"/>
            <a:ext cx="32004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Data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✗ Manual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77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Segoe UI"/>
              </a:defRPr>
            </a:pPr>
            <a:r>
              <a:t>✓ Auto CSV parsing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1042416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Benchmarking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✗ Global averages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017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Segoe UI"/>
              </a:defRPr>
            </a:pPr>
            <a:r>
              <a:t>✓ City-specific peers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42416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✗ Generic 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Segoe UI"/>
              </a:defRPr>
            </a:pPr>
            <a:r>
              <a:t>✓ City + spending filtered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1042416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✗ 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2976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Segoe UI"/>
              </a:defRPr>
            </a:pPr>
            <a:r>
              <a:t>✓ Circles &amp; leaderboards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00599"/>
            <a:ext cx="1042416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Personality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✗ Just numbers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Segoe UI"/>
              </a:defRPr>
            </a:pPr>
            <a:r>
              <a:t>✓ 6 evolving personas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40680"/>
            <a:ext cx="1042416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AI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577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✗ Basic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577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Segoe UI"/>
              </a:defRPr>
            </a:pPr>
            <a:r>
              <a:t>✓ LLM classification + stories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SECURITY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Built to Prevent Gaming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Leaderboards are only meaningful if they cannot be cheated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0116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05840" y="2377440"/>
            <a:ext cx="548640" cy="548640"/>
          </a:xfrm>
          <a:prstGeom prst="hexagon">
            <a:avLst/>
          </a:prstGeom>
          <a:solidFill>
            <a:srgbClr val="22C55E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SHA-256 CSV Hash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uploaded CSV is hashed using SHA-256. If a user tries to re-upload the same file (even with a different filename), the system detects it and blocks the upload. This prevents users from inflating their scores by uploading the same transactions multiple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12080" cy="20116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31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OTP Email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 user accounts require email verification via one-time password (OTP). This prevents bot account creation and ensures each user on the leaderboard is a real person with a verified email address.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How It Protects Leaderboard Integrity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3474720" cy="118872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83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Duplicate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Same CSV content = blocked, regardless of filename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846320"/>
            <a:ext cx="3474720" cy="118872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983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4983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Real Users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Email OTP verification prevents fake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846320"/>
            <a:ext cx="3474720" cy="118872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983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983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Fair Competition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Rankings reflect actual behavior, not gaming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What's Next for LOOP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80B0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148840"/>
            <a:ext cx="2834640" cy="25400"/>
          </a:xfrm>
          <a:prstGeom prst="rect">
            <a:avLst/>
          </a:prstGeom>
          <a:solidFill>
            <a:srgbClr val="22C55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Core Platform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CSV parsing &amp; AI classification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0332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Loop Score &amp; personalities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0624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City rankings &amp; circles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Manual expense logging</a:t>
            </a:r>
          </a:p>
        </p:txBody>
      </p:sp>
      <p:sp>
        <p:nvSpPr>
          <p:cNvPr id="17" name="Oval 16"/>
          <p:cNvSpPr/>
          <p:nvPr/>
        </p:nvSpPr>
        <p:spPr>
          <a:xfrm>
            <a:off x="4480559" y="1828800"/>
            <a:ext cx="731520" cy="73152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19" y="2148840"/>
            <a:ext cx="2834640" cy="25400"/>
          </a:xfrm>
          <a:prstGeom prst="rect">
            <a:avLst/>
          </a:prstGeom>
          <a:solidFill>
            <a:srgbClr val="22C55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651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Enhancements</a:t>
            </a:r>
          </a:p>
        </p:txBody>
      </p:sp>
      <p:sp>
        <p:nvSpPr>
          <p:cNvPr id="21" name="Oval 20"/>
          <p:cNvSpPr/>
          <p:nvPr/>
        </p:nvSpPr>
        <p:spPr>
          <a:xfrm>
            <a:off x="4480559" y="320040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3108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Bank API integration (no CSV needed)</a:t>
            </a:r>
          </a:p>
        </p:txBody>
      </p:sp>
      <p:sp>
        <p:nvSpPr>
          <p:cNvPr id="23" name="Oval 22"/>
          <p:cNvSpPr/>
          <p:nvPr/>
        </p:nvSpPr>
        <p:spPr>
          <a:xfrm>
            <a:off x="4480559" y="370332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3611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Carbon offset marketplace</a:t>
            </a:r>
          </a:p>
        </p:txBody>
      </p:sp>
      <p:sp>
        <p:nvSpPr>
          <p:cNvPr id="25" name="Oval 24"/>
          <p:cNvSpPr/>
          <p:nvPr/>
        </p:nvSpPr>
        <p:spPr>
          <a:xfrm>
            <a:off x="4480559" y="420624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4114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Corporate team features</a:t>
            </a:r>
          </a:p>
        </p:txBody>
      </p:sp>
      <p:sp>
        <p:nvSpPr>
          <p:cNvPr id="27" name="Oval 26"/>
          <p:cNvSpPr/>
          <p:nvPr/>
        </p:nvSpPr>
        <p:spPr>
          <a:xfrm>
            <a:off x="4480559" y="47091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4617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Mobile app (iOS/Android)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0" y="1828800"/>
            <a:ext cx="731520" cy="73152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51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320040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108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Pan-India expansion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370332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611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Regional language support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0" y="420624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114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Government partnerships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0" y="47091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4617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Carbon credit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22C55E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4ADE80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1F5F9"/>
                </a:solidFill>
                <a:latin typeface="Segoe UI"/>
              </a:defRPr>
            </a:pPr>
            <a:r>
              <a:t>Close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Segoe UI"/>
              </a:defRPr>
            </a:pPr>
            <a:r>
              <a:t>See your impact. Understand it. Change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389120"/>
            <a:ext cx="393192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526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80B0F"/>
                </a:solidFill>
                <a:latin typeface="Segoe UI"/>
              </a:defRPr>
            </a:pPr>
            <a:r>
              <a:t>Try LOOP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HackOut'26 | DAU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